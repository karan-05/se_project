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2918400" cy="21945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2000">
                <a:solidFill>
                  <a:srgbClr val="E6EAF6"/>
                </a:solidFill>
              </a:defRPr>
            </a:pPr>
            <a:r>
              <a:t>Delivery Autonomy Mix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Challenges</c:v>
                </c:pt>
              </c:strCache>
            </c:strRef>
          </c:tx>
          <c:dPt>
            <c:idx val="0"/>
            <c:spPr>
              <a:solidFill>
                <a:srgbClr val="FFA55C"/>
              </a:solidFill>
            </c:spPr>
          </c:dPt>
          <c:dPt>
            <c:idx val="1"/>
            <c:spPr>
              <a:solidFill>
                <a:srgbClr val="1EC9B7"/>
              </a:solidFill>
            </c:spPr>
          </c:dPt>
          <c:dPt>
            <c:idx val="2"/>
            <c:spPr>
              <a:solidFill>
                <a:srgbClr val="577BFF"/>
              </a:solidFill>
            </c:spPr>
          </c:dPt>
          <c:cat>
            <c:strRef>
              <c:f>Sheet1!$A$2:$A$4</c:f>
              <c:strCache>
                <c:ptCount val="3"/>
                <c:pt idx="0">
                  <c:v>Partial</c:v>
                </c:pt>
                <c:pt idx="1">
                  <c:v>No</c:v>
                </c:pt>
                <c:pt idx="2">
                  <c:v>Yes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107</c:v>
                </c:pt>
                <c:pt idx="1">
                  <c:v>94</c:v>
                </c:pt>
                <c:pt idx="2">
                  <c:v>3</c:v>
                </c:pt>
              </c:numCache>
            </c:numRef>
          </c:val>
        </c:ser>
        <c:dLbls>
          <c:txPr>
            <a:bodyPr/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2000">
                <a:solidFill>
                  <a:srgbClr val="E6EAF6"/>
                </a:solidFill>
              </a:defRPr>
            </a:pPr>
            <a:r>
              <a:t>Top Autonomy Blockers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Challenges</c:v>
                </c:pt>
              </c:strCache>
            </c:strRef>
          </c:tx>
          <c:spPr>
            <a:solidFill>
              <a:srgbClr val="FFA55C"/>
            </a:solidFill>
          </c:spPr>
          <c:cat>
            <c:strRef>
              <c:f>Sheet1!$A$2:$A$5</c:f>
              <c:strCache>
                <c:ptCount val="4"/>
                <c:pt idx="0">
                  <c:v>Testing &amp; quality</c:v>
                </c:pt>
                <c:pt idx="1">
                  <c:v>UI/UX &amp; creative design, Testing &amp; qu…</c:v>
                </c:pt>
                <c:pt idx="2">
                  <c:v>Data science &amp; modeling, Integration …</c:v>
                </c:pt>
                <c:pt idx="3">
                  <c:v>Integration &amp; automation, UI/UX &amp; cre…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</c:v>
                </c:pt>
                <c:pt idx="1">
                  <c:v>23</c:v>
                </c:pt>
                <c:pt idx="2">
                  <c:v>12</c:v>
                </c:pt>
                <c:pt idx="3">
                  <c:v>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DCE6F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DCE6F5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0" cy="21945600"/>
          </a:xfrm>
          <a:prstGeom prst="rect">
            <a:avLst/>
          </a:prstGeom>
          <a:gradFill rotWithShape="1">
            <a:gsLst>
              <a:gs pos="0">
                <a:srgbClr val="10172B"/>
              </a:gs>
              <a:gs pos="100000">
                <a:srgbClr val="37425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1089600" cy="2926080"/>
          </a:xfrm>
          <a:prstGeom prst="rect">
            <a:avLst/>
          </a:prstGeom>
          <a:solidFill>
            <a:srgbClr val="0E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301752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400" b="1">
                <a:solidFill>
                  <a:srgbClr val="EEF1F8"/>
                </a:solidFill>
              </a:defRPr>
            </a:pPr>
            <a:r>
              <a:t>THE AUTONOMY GAP: TOPCODER SOFTWARE DELIVERY</a:t>
            </a:r>
          </a:p>
          <a:p>
            <a:pPr algn="l">
              <a:defRPr sz="3600">
                <a:solidFill>
                  <a:srgbClr val="ACBDE7"/>
                </a:solidFill>
              </a:defRPr>
            </a:pPr>
            <a:r>
              <a:t>Mapping where GPT-5 class agents still hand work back to humans—and how decomposition closes the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572000"/>
            <a:ext cx="31089600" cy="3840480"/>
          </a:xfrm>
          <a:prstGeom prst="rect">
            <a:avLst/>
          </a:prstGeom>
          <a:solidFill>
            <a:srgbClr val="11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926080" y="4754880"/>
            <a:ext cx="5120640" cy="3474720"/>
          </a:xfrm>
          <a:prstGeom prst="ellipse">
            <a:avLst/>
          </a:prstGeom>
          <a:solidFill>
            <a:srgbClr val="FFA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4754880"/>
            <a:ext cx="512064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800" b="1">
                <a:solidFill>
                  <a:srgbClr val="FFFFFF"/>
                </a:solidFill>
              </a:defRPr>
            </a:pPr>
            <a:r>
              <a:t>94</a:t>
            </a:r>
          </a:p>
          <a:p>
            <a:pPr algn="ctr">
              <a:defRPr sz="2400">
                <a:solidFill>
                  <a:srgbClr val="F2F5FF"/>
                </a:solidFill>
              </a:defRPr>
            </a:pPr>
            <a:r>
              <a:t>PROJECTS STILL HUMAN-LED</a:t>
            </a:r>
          </a:p>
        </p:txBody>
      </p:sp>
      <p:sp>
        <p:nvSpPr>
          <p:cNvPr id="8" name="Oval 7"/>
          <p:cNvSpPr/>
          <p:nvPr/>
        </p:nvSpPr>
        <p:spPr>
          <a:xfrm>
            <a:off x="12070080" y="4754880"/>
            <a:ext cx="5120640" cy="3474720"/>
          </a:xfrm>
          <a:prstGeom prst="ellipse">
            <a:avLst/>
          </a:prstGeom>
          <a:solidFill>
            <a:srgbClr val="1EC9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80" y="4754880"/>
            <a:ext cx="512064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800" b="1">
                <a:solidFill>
                  <a:srgbClr val="FFFFFF"/>
                </a:solidFill>
              </a:defRPr>
            </a:pPr>
            <a:r>
              <a:t>1.5%</a:t>
            </a:r>
          </a:p>
          <a:p>
            <a:pPr algn="ctr">
              <a:defRPr sz="2400">
                <a:solidFill>
                  <a:srgbClr val="F2F5FF"/>
                </a:solidFill>
              </a:defRPr>
            </a:pPr>
            <a:r>
              <a:t>FULLY AUTONOMOUS DELIVERIES</a:t>
            </a:r>
          </a:p>
        </p:txBody>
      </p:sp>
      <p:sp>
        <p:nvSpPr>
          <p:cNvPr id="10" name="Oval 9"/>
          <p:cNvSpPr/>
          <p:nvPr/>
        </p:nvSpPr>
        <p:spPr>
          <a:xfrm>
            <a:off x="21214080" y="4754880"/>
            <a:ext cx="5120640" cy="3474720"/>
          </a:xfrm>
          <a:prstGeom prst="ellipse">
            <a:avLst/>
          </a:prstGeom>
          <a:solidFill>
            <a:srgbClr val="89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214080" y="4754880"/>
            <a:ext cx="512064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800" b="1">
                <a:solidFill>
                  <a:srgbClr val="FFFFFF"/>
                </a:solidFill>
              </a:defRPr>
            </a:pPr>
            <a:r>
              <a:t>24h</a:t>
            </a:r>
          </a:p>
          <a:p>
            <a:pPr algn="ctr">
              <a:defRPr sz="2400">
                <a:solidFill>
                  <a:srgbClr val="F2F5FF"/>
                </a:solidFill>
              </a:defRPr>
            </a:pPr>
            <a:r>
              <a:t>AVG SUPERVISED AGENT EFFORT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8778240"/>
            <a:ext cx="9509760" cy="5943600"/>
          </a:xfrm>
          <a:prstGeom prst="roundRect">
            <a:avLst/>
          </a:prstGeom>
          <a:solidFill>
            <a:srgbClr val="F8F9FC"/>
          </a:solidFill>
          <a:ln w="38100">
            <a:solidFill>
              <a:srgbClr val="1EC9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8778240"/>
            <a:ext cx="9509760" cy="731520"/>
          </a:xfrm>
          <a:prstGeom prst="rect">
            <a:avLst/>
          </a:prstGeom>
          <a:solidFill>
            <a:srgbClr val="1EC9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8869680"/>
            <a:ext cx="8778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9692640"/>
            <a:ext cx="8778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2400">
                <a:solidFill>
                  <a:srgbClr val="1F283E"/>
                </a:solidFill>
              </a:defRPr>
            </a:pPr>
            <a:r>
              <a:t>Resilient collectors capture &gt;10K Topcoder challenges with retry telemetry, schema migrations, and analytics hooks.</a:t>
            </a:r>
          </a:p>
          <a:p>
            <a:pPr>
              <a:spcAft>
                <a:spcPts val="600"/>
              </a:spcAft>
              <a:defRPr sz="2400">
                <a:solidFill>
                  <a:srgbClr val="1F283E"/>
                </a:solidFill>
              </a:defRPr>
            </a:pPr>
            <a:r>
              <a:t>Study probes the 'autonomy gap'—when agentic pipelines escalate tasks back to SMEs across Dev, QA, DS, UX tracks.</a:t>
            </a:r>
          </a:p>
          <a:p>
            <a:pPr>
              <a:spcAft>
                <a:spcPts val="600"/>
              </a:spcAft>
              <a:defRPr sz="2400">
                <a:solidFill>
                  <a:srgbClr val="1F283E"/>
                </a:solidFill>
              </a:defRPr>
            </a:pPr>
            <a:r>
              <a:t>AI-feasibility classifier fuses prize tiers, submission windows, NLP signals, and historical outcomes.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064240" y="8778240"/>
            <a:ext cx="9509760" cy="5943600"/>
          </a:xfrm>
          <a:prstGeom prst="roundRect">
            <a:avLst/>
          </a:prstGeom>
          <a:solidFill>
            <a:srgbClr val="F8F9FC"/>
          </a:solidFill>
          <a:ln w="38100">
            <a:solidFill>
              <a:srgbClr val="57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064240" y="8778240"/>
            <a:ext cx="9509760" cy="731520"/>
          </a:xfrm>
          <a:prstGeom prst="rect">
            <a:avLst/>
          </a:prstGeom>
          <a:solidFill>
            <a:srgbClr val="57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0" y="8869680"/>
            <a:ext cx="8778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METHODOLOGY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9692640"/>
            <a:ext cx="8778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2400">
                <a:solidFill>
                  <a:srgbClr val="1F283E"/>
                </a:solidFill>
              </a:defRPr>
            </a:pPr>
            <a:r>
              <a:t>1. API harvests feed a migration-managed MySQL lake; telemetry logs retries, schema diffs, and member ingestion.</a:t>
            </a:r>
          </a:p>
          <a:p>
            <a:pPr>
              <a:spcAft>
                <a:spcPts val="600"/>
              </a:spcAft>
              <a:defRPr sz="2400">
                <a:solidFill>
                  <a:srgbClr val="1F283E"/>
                </a:solidFill>
              </a:defRPr>
            </a:pPr>
            <a:r>
              <a:t>2. `analysis/report.py` scores autonomy (Yes/Partial/No) and labels blockers (QA debt, creative ambiguity, integration).</a:t>
            </a:r>
          </a:p>
          <a:p>
            <a:pPr>
              <a:spcAft>
                <a:spcPts val="600"/>
              </a:spcAft>
              <a:defRPr sz="2400">
                <a:solidFill>
                  <a:srgbClr val="1F283E"/>
                </a:solidFill>
              </a:defRPr>
            </a:pPr>
            <a:r>
              <a:t>3. Regression harness (pytest) locks in deterministic formatting + feasibility heuristics despite API drift.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214080" y="8778240"/>
            <a:ext cx="9509760" cy="5943600"/>
          </a:xfrm>
          <a:prstGeom prst="roundRect">
            <a:avLst/>
          </a:prstGeom>
          <a:solidFill>
            <a:srgbClr val="F8F9FC"/>
          </a:solidFill>
          <a:ln w="38100">
            <a:solidFill>
              <a:srgbClr val="FFA5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214080" y="8778240"/>
            <a:ext cx="9509760" cy="731520"/>
          </a:xfrm>
          <a:prstGeom prst="rect">
            <a:avLst/>
          </a:prstGeom>
          <a:solidFill>
            <a:srgbClr val="FFA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579840" y="8869680"/>
            <a:ext cx="8778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KEY FINDINGS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579840" y="9692640"/>
            <a:ext cx="8778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2400">
                <a:solidFill>
                  <a:srgbClr val="1F283E"/>
                </a:solidFill>
              </a:defRPr>
            </a:pPr>
            <a:r>
              <a:t>Only 3 challenges (1.5%) reach full automation.</a:t>
            </a:r>
          </a:p>
          <a:p>
            <a:pPr>
              <a:spcAft>
                <a:spcPts val="600"/>
              </a:spcAft>
              <a:defRPr sz="2400">
                <a:solidFill>
                  <a:srgbClr val="1F283E"/>
                </a:solidFill>
              </a:defRPr>
            </a:pPr>
            <a:r>
              <a:t>Human escalation average: 50.4h vs 23.7h under co-pilot oversight.</a:t>
            </a:r>
          </a:p>
          <a:p>
            <a:pPr>
              <a:spcAft>
                <a:spcPts val="600"/>
              </a:spcAft>
              <a:defRPr sz="2400">
                <a:solidFill>
                  <a:srgbClr val="1F283E"/>
                </a:solidFill>
              </a:defRPr>
            </a:pPr>
            <a:r>
              <a:t>Blockers cluster around test automation gaps, multi-system hand-offs, and creative brand judgement calls.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15453359"/>
            <a:ext cx="9509760" cy="5943600"/>
          </a:xfrm>
          <a:prstGeom prst="roundRect">
            <a:avLst/>
          </a:prstGeom>
          <a:solidFill>
            <a:srgbClr val="F8F9FC"/>
          </a:solidFill>
          <a:ln w="38100">
            <a:solidFill>
              <a:srgbClr val="896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" y="15453359"/>
            <a:ext cx="9509760" cy="731520"/>
          </a:xfrm>
          <a:prstGeom prst="rect">
            <a:avLst/>
          </a:prstGeom>
          <a:solidFill>
            <a:srgbClr val="89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80160" y="15544799"/>
            <a:ext cx="8778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NEXT-WAVE AUTONOMY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16367759"/>
            <a:ext cx="8778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2400">
                <a:solidFill>
                  <a:srgbClr val="1F283E"/>
                </a:solidFill>
              </a:defRPr>
            </a:pPr>
            <a:r>
              <a:t>Dynamic task fracturing: automation sweep hands to LLM planner emitting dependency-aware micro-briefs.</a:t>
            </a:r>
          </a:p>
          <a:p>
            <a:pPr>
              <a:spcAft>
                <a:spcPts val="600"/>
              </a:spcAft>
              <a:defRPr sz="2400">
                <a:solidFill>
                  <a:srgbClr val="1F283E"/>
                </a:solidFill>
              </a:defRPr>
            </a:pPr>
            <a:r>
              <a:t>Context injectors: auto-pack historic submissions, QA scripts, and brand guidelines for each micro-task.</a:t>
            </a:r>
          </a:p>
          <a:p>
            <a:pPr>
              <a:spcAft>
                <a:spcPts val="600"/>
              </a:spcAft>
              <a:defRPr sz="2400">
                <a:solidFill>
                  <a:srgbClr val="1F283E"/>
                </a:solidFill>
              </a:defRPr>
            </a:pPr>
            <a:r>
              <a:t>Risk radar: dashboards benchmark agent vs human throughput using retry + ingestion logs.</a:t>
            </a:r>
          </a:p>
          <a:p>
            <a:pPr>
              <a:spcAft>
                <a:spcPts val="600"/>
              </a:spcAft>
              <a:defRPr sz="2400">
                <a:solidFill>
                  <a:srgbClr val="1F283E"/>
                </a:solidFill>
              </a:defRPr>
            </a:pPr>
            <a:r>
              <a:t>Closed-loop tuning: feed delivery outcomes back to recalibrate feasibility heuristics monthly.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064240" y="15453359"/>
            <a:ext cx="9509760" cy="5943600"/>
          </a:xfrm>
          <a:prstGeom prst="roundRect">
            <a:avLst/>
          </a:prstGeom>
          <a:solidFill>
            <a:srgbClr val="F8F9FC"/>
          </a:solidFill>
          <a:ln w="38100">
            <a:solidFill>
              <a:srgbClr val="1EC9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064240" y="15453359"/>
            <a:ext cx="9509760" cy="731520"/>
          </a:xfrm>
          <a:prstGeom prst="rect">
            <a:avLst/>
          </a:prstGeom>
          <a:solidFill>
            <a:srgbClr val="1EC9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0" y="15544799"/>
            <a:ext cx="8778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16367759"/>
            <a:ext cx="8778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2400">
                <a:solidFill>
                  <a:srgbClr val="1F283E"/>
                </a:solidFill>
              </a:defRPr>
            </a:pPr>
            <a:r>
              <a:t>Ambiguous acceptance criteria—not code generation—remain the bottleneck for AI autonomy.</a:t>
            </a:r>
          </a:p>
          <a:p>
            <a:pPr>
              <a:spcAft>
                <a:spcPts val="600"/>
              </a:spcAft>
              <a:defRPr sz="2400">
                <a:solidFill>
                  <a:srgbClr val="1F283E"/>
                </a:solidFill>
              </a:defRPr>
            </a:pPr>
            <a:r>
              <a:t>Decomposition and observability shrink the autonomy gap, converting whole projects into orchestrated agent swarms.</a:t>
            </a:r>
          </a:p>
          <a:p>
            <a:pPr>
              <a:spcAft>
                <a:spcPts val="600"/>
              </a:spcAft>
              <a:defRPr sz="2400">
                <a:solidFill>
                  <a:srgbClr val="1F283E"/>
                </a:solidFill>
              </a:defRPr>
            </a:pPr>
            <a:r>
              <a:t>Human oversight becomes targeted (design review, QA judgement) rather than omni-present.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214080" y="15453359"/>
            <a:ext cx="9509760" cy="5943600"/>
          </a:xfrm>
          <a:prstGeom prst="roundRect">
            <a:avLst/>
          </a:prstGeom>
          <a:solidFill>
            <a:srgbClr val="F8F9FC"/>
          </a:solidFill>
          <a:ln w="38100">
            <a:solidFill>
              <a:srgbClr val="78D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1214080" y="15453359"/>
            <a:ext cx="9509760" cy="731520"/>
          </a:xfrm>
          <a:prstGeom prst="rect">
            <a:avLst/>
          </a:prstGeom>
          <a:solidFill>
            <a:srgbClr val="78D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579840" y="15544799"/>
            <a:ext cx="8778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ACKNOWLEDGEMENTS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579840" y="16367759"/>
            <a:ext cx="8778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2400">
                <a:solidFill>
                  <a:srgbClr val="1F283E"/>
                </a:solidFill>
              </a:defRPr>
            </a:pPr>
            <a:r>
              <a:t>Topcoder community + copilots for authentic challenge data.</a:t>
            </a:r>
          </a:p>
          <a:p>
            <a:pPr>
              <a:spcAft>
                <a:spcPts val="600"/>
              </a:spcAft>
              <a:defRPr sz="2400">
                <a:solidFill>
                  <a:srgbClr val="1F283E"/>
                </a:solidFill>
              </a:defRPr>
            </a:pPr>
            <a:r>
              <a:t>Open-source maintainers of requests, mysql-connector, pandas, pptx, pytest enabling this stack.</a:t>
            </a:r>
          </a:p>
          <a:p>
            <a:pPr>
              <a:spcAft>
                <a:spcPts val="600"/>
              </a:spcAft>
              <a:defRPr sz="2400">
                <a:solidFill>
                  <a:srgbClr val="1F283E"/>
                </a:solidFill>
              </a:defRPr>
            </a:pPr>
            <a:r>
              <a:t>Research partners advancing GPT-5 agent orchestration and evaluation.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0574000" y="12893040"/>
            <a:ext cx="11430000" cy="5943600"/>
          </a:xfrm>
          <a:prstGeom prst="roundRect">
            <a:avLst/>
          </a:prstGeom>
          <a:solidFill>
            <a:srgbClr val="131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Chart 36"/>
          <p:cNvGraphicFramePr>
            <a:graphicFrameLocks noGrp="1"/>
          </p:cNvGraphicFramePr>
          <p:nvPr/>
        </p:nvGraphicFramePr>
        <p:xfrm>
          <a:off x="21031200" y="13258800"/>
          <a:ext cx="548640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8" name="Chart 37"/>
          <p:cNvGraphicFramePr>
            <a:graphicFrameLocks noGrp="1"/>
          </p:cNvGraphicFramePr>
          <p:nvPr/>
        </p:nvGraphicFramePr>
        <p:xfrm>
          <a:off x="26700480" y="13258800"/>
          <a:ext cx="4846320" cy="5303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